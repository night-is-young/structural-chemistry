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4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4033F3-E495-9A89-3B08-F084E701B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3CF7D1-632B-A227-9E91-237745E7D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2ED81E-65B6-69A0-542F-945AB503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0A42-14ED-4DB6-B749-D3A352522C29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BE0D10-38F2-049C-A705-3A8F36533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62154C-3840-AEA6-7ED5-F6EECB65F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E0BB-2EBB-4277-92CE-6CF0A1828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153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D45AD-9658-E4A0-DBFC-C5CC4105C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162175-2507-49AE-4F9F-FF824ADE7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FFBCB0-E4F3-820E-547C-61609441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0A42-14ED-4DB6-B749-D3A352522C29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9B80D4-692A-AD9D-B6AE-1E33A7E87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5B4DE6-ABFA-EE5C-F5AA-4FB7B62AE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E0BB-2EBB-4277-92CE-6CF0A1828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303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9F809-4BF2-7E79-3229-C27BDC8F9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19DDDC-5EC2-778C-DB1F-D72E8F17B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1DAA8C-CFD5-B399-8D21-9D8B81329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0A42-14ED-4DB6-B749-D3A352522C29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D41CB1-9208-9703-6AC3-E5D9AC006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15DCB2-884E-04A2-1C8F-A4F286FE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E0BB-2EBB-4277-92CE-6CF0A1828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082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43410-F612-FE92-9A76-2FC70C877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EF94B0-A1A3-C129-2D2B-33E63878A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5AB564-38A4-38F4-1111-817E9C9E9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3F9ED5-8E09-B6A4-6C39-1F64E84B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0A42-14ED-4DB6-B749-D3A352522C29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477137-D035-FE45-91F2-CA196D0C5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378CD7-9172-F46A-A283-87A71F817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E0BB-2EBB-4277-92CE-6CF0A1828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370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592EE-B57B-8E14-9CCF-71D8A69BE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2CAE5C-003B-90A8-5F90-C3656CE0F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814B20-EE29-8970-BE6D-8AD0E5B32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E5EAB8-1ECD-CA45-7BFA-3CB103D6DF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69032B4-39A4-EC98-4E85-9677F0446F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CBC1140-E033-E62E-129B-B174F762F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0A42-14ED-4DB6-B749-D3A352522C29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0179AF4-0FF0-85D0-24F3-40516F78D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FA14D22-5910-B22C-0927-86FC59ECE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E0BB-2EBB-4277-92CE-6CF0A1828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328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77CFF0-2AEA-593C-B5A4-049724BFE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21D78B7-F09B-6030-797E-00CEFDE3E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0A42-14ED-4DB6-B749-D3A352522C29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BA6A6A-CF9D-98A5-8BAD-2D3181802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5EDDB3-9091-600F-23A4-05C1D4382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E0BB-2EBB-4277-92CE-6CF0A1828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71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1F2D64-4436-2F61-6F3C-7CA38060F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0A42-14ED-4DB6-B749-D3A352522C29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C79B17-257D-29D7-A9B2-5DDBC83D8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69DC0D-D298-6528-D299-6BDAA19E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E0BB-2EBB-4277-92CE-6CF0A1828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55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1110B-5E75-9403-15EF-6CDA4617F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B9CF96-E298-D0B5-D163-62C475E87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F174C2-B09B-E26B-25A6-AC71B14D1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79A264-553C-61C6-BF27-C1D70C388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0A42-14ED-4DB6-B749-D3A352522C29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910D79-3CC1-12BA-EAA8-AA7D546B9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C1F6EF-5820-1BC5-04B3-221ED4D1B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E0BB-2EBB-4277-92CE-6CF0A1828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272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5102D8-BE7D-FDC9-1117-537E10C5D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55E15D7-8E06-F6D2-61C1-EDBEFB6948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574F68-8B2E-0F8A-E1A5-6C82268E9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20CE48-9008-2FC8-6913-D0B403E76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0A42-14ED-4DB6-B749-D3A352522C29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6D4826-23F5-8E77-FE5D-6E512EBD8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BBC916-6526-25CD-369E-EEAB4B4CC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E0BB-2EBB-4277-92CE-6CF0A1828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151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76524-7FAC-668E-93D2-2D27B883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3EF742-6CCC-B4F6-51CD-0253E4C25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8FB77E-97DB-5E93-3E90-FA043C5D9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0A42-14ED-4DB6-B749-D3A352522C29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BF8FA4-0F3B-99D4-27A5-2EF33F85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2937D-F9CA-0BA0-A68E-170F9DD9F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E0BB-2EBB-4277-92CE-6CF0A1828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484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02E799D-86FF-3EB9-8179-6DDEA55413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0639E3-8EFD-BEFD-5BE7-538DD4F85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E58580-7574-C5CC-75F8-482CB7D6F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0A42-14ED-4DB6-B749-D3A352522C29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46E1D8-9387-7720-5932-512F0082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0B9C12-6991-8FE2-44DC-DB1431B08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9E0BB-2EBB-4277-92CE-6CF0A1828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483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3EE2D4-F489-F290-DAA0-AB2023451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7AB142-3B0A-CB3D-795D-859FFED71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58CAE1-B45A-3325-72AF-9D3C3E74FB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10A42-14ED-4DB6-B749-D3A352522C29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55BC54-3578-DA29-2937-21DF02BAE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92D552-A2DF-7AA2-6068-F62DAF130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9E0BB-2EBB-4277-92CE-6CF0A18285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72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AC6C3E-A47A-6AD6-6AF2-3853FE68DC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latin typeface="思源宋体 VF SemiBold" panose="02020200000000000000" pitchFamily="18" charset="-122"/>
                <a:ea typeface="思源宋体 VF SemiBold" panose="02020200000000000000" pitchFamily="18" charset="-122"/>
              </a:rPr>
              <a:t>冰的无序结构</a:t>
            </a:r>
          </a:p>
        </p:txBody>
      </p:sp>
    </p:spTree>
    <p:extLst>
      <p:ext uri="{BB962C8B-B14F-4D97-AF65-F5344CB8AC3E}">
        <p14:creationId xmlns:p14="http://schemas.microsoft.com/office/powerpoint/2010/main" val="485752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6C944-F7E5-2D86-F139-A5849692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思源宋体" panose="02020400000000000000" pitchFamily="18" charset="-122"/>
                <a:ea typeface="思源宋体" panose="02020400000000000000" pitchFamily="18" charset="-122"/>
              </a:rPr>
              <a:t>1.</a:t>
            </a:r>
            <a:r>
              <a:rPr lang="zh-CN" altLang="en-US" b="1" dirty="0">
                <a:latin typeface="思源宋体" panose="02020400000000000000" pitchFamily="18" charset="-122"/>
                <a:ea typeface="思源宋体" panose="02020400000000000000" pitchFamily="18" charset="-122"/>
              </a:rPr>
              <a:t>氢原子的无序性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00C7B-6ABA-8773-0D3C-90ED73B8A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984" y="1825625"/>
            <a:ext cx="3083560" cy="5232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冰</a:t>
            </a:r>
            <a:r>
              <a:rPr lang="en-US" altLang="zh-CN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-</a:t>
            </a:r>
            <a:r>
              <a:rPr lang="en-US" altLang="zh-CN" dirty="0" err="1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I</a:t>
            </a:r>
            <a:r>
              <a:rPr lang="en-US" altLang="zh-CN" baseline="-25000" dirty="0" err="1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具有氢无序性</a:t>
            </a:r>
            <a:endParaRPr lang="en-US" altLang="zh-CN" dirty="0">
              <a:latin typeface="Times New Roman" panose="02020603050405020304" pitchFamily="18" charset="0"/>
              <a:ea typeface="思源宋体" panose="02020400000000000000" pitchFamily="18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zh-CN" altLang="en-US" dirty="0">
              <a:latin typeface="思源宋体 VF SemiBold" panose="02020200000000000000" pitchFamily="18" charset="-122"/>
              <a:ea typeface="思源宋体 VF SemiBold" panose="02020200000000000000" pitchFamily="18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173C948-2A0D-63E9-B171-0178B329131D}"/>
              </a:ext>
            </a:extLst>
          </p:cNvPr>
          <p:cNvGrpSpPr/>
          <p:nvPr/>
        </p:nvGrpSpPr>
        <p:grpSpPr>
          <a:xfrm>
            <a:off x="838200" y="2522570"/>
            <a:ext cx="4689128" cy="3387506"/>
            <a:chOff x="414811" y="2311620"/>
            <a:chExt cx="5787870" cy="4181255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AA83999-3D83-4FD6-418E-1F84A86548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5010"/>
            <a:stretch>
              <a:fillRect/>
            </a:stretch>
          </p:blipFill>
          <p:spPr>
            <a:xfrm>
              <a:off x="414811" y="2311620"/>
              <a:ext cx="5787870" cy="4181255"/>
            </a:xfrm>
            <a:prstGeom prst="rect">
              <a:avLst/>
            </a:prstGeom>
          </p:spPr>
        </p:pic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5CC23FDF-9F6B-7B13-A74F-4A04DD5A58AA}"/>
                </a:ext>
              </a:extLst>
            </p:cNvPr>
            <p:cNvSpPr/>
            <p:nvPr/>
          </p:nvSpPr>
          <p:spPr>
            <a:xfrm>
              <a:off x="3476625" y="3214687"/>
              <a:ext cx="428625" cy="428625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E7AD003C-9C42-911B-9AFB-6912F0C6523F}"/>
              </a:ext>
            </a:extLst>
          </p:cNvPr>
          <p:cNvSpPr txBox="1"/>
          <p:nvPr/>
        </p:nvSpPr>
        <p:spPr>
          <a:xfrm>
            <a:off x="7193386" y="1807012"/>
            <a:ext cx="3596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冰</a:t>
            </a:r>
            <a:r>
              <a:rPr lang="en-US" altLang="zh-CN" sz="2800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-</a:t>
            </a:r>
            <a:r>
              <a:rPr lang="en-US" altLang="zh-CN" sz="2800" dirty="0" err="1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I</a:t>
            </a:r>
            <a:r>
              <a:rPr lang="en-US" altLang="zh-CN" sz="2800" baseline="-25000" dirty="0" err="1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h</a:t>
            </a:r>
            <a:r>
              <a:rPr lang="zh-CN" altLang="en-US" sz="2800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的残余熵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鲍林熵 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E9AE2E5-3989-9026-1E0D-4659C4388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07870"/>
            <a:ext cx="5791487" cy="361690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59675DB-FC90-E879-4696-A8A6ECAD6441}"/>
              </a:ext>
            </a:extLst>
          </p:cNvPr>
          <p:cNvSpPr txBox="1"/>
          <p:nvPr/>
        </p:nvSpPr>
        <p:spPr>
          <a:xfrm>
            <a:off x="7742063" y="6024776"/>
            <a:ext cx="2499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问题？改进？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604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41EAF-6AE5-0BA5-5DEB-48F5D477D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56B54-3C08-5E02-18AA-E3AC5077E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思源宋体" panose="02020400000000000000" pitchFamily="18" charset="-122"/>
                <a:ea typeface="思源宋体" panose="02020400000000000000" pitchFamily="18" charset="-122"/>
              </a:rPr>
              <a:t>1.</a:t>
            </a:r>
            <a:r>
              <a:rPr lang="zh-CN" altLang="en-US" b="1" dirty="0">
                <a:latin typeface="思源宋体" panose="02020400000000000000" pitchFamily="18" charset="-122"/>
                <a:ea typeface="思源宋体" panose="02020400000000000000" pitchFamily="18" charset="-122"/>
              </a:rPr>
              <a:t>氢原子的无序性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C5E041-EFE2-CC72-BE5D-8A6744914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900" y="1571239"/>
            <a:ext cx="4125428" cy="5232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冰的氢有序</a:t>
            </a:r>
            <a:r>
              <a:rPr lang="en-US" altLang="zh-CN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无序相分类</a:t>
            </a:r>
            <a:endParaRPr lang="en-US" altLang="zh-CN" dirty="0">
              <a:latin typeface="Times New Roman" panose="02020603050405020304" pitchFamily="18" charset="0"/>
              <a:ea typeface="思源宋体" panose="02020400000000000000" pitchFamily="18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zh-CN" altLang="en-US" dirty="0">
              <a:latin typeface="思源宋体 VF SemiBold" panose="02020200000000000000" pitchFamily="18" charset="-122"/>
              <a:ea typeface="思源宋体 VF SemiBold" panose="02020200000000000000" pitchFamily="18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6A0C97-EB2D-52CB-3D86-47A9A2EF0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35" y="2094459"/>
            <a:ext cx="5937957" cy="457032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6247510-7D8B-4757-AE0A-2FA77EFC005D}"/>
              </a:ext>
            </a:extLst>
          </p:cNvPr>
          <p:cNvSpPr txBox="1"/>
          <p:nvPr/>
        </p:nvSpPr>
        <p:spPr>
          <a:xfrm>
            <a:off x="6733312" y="1832849"/>
            <a:ext cx="4620488" cy="4540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1.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由液态结晶形成</a:t>
            </a:r>
            <a:r>
              <a:rPr lang="zh-CN" altLang="en-US" sz="2800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的冰晶型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均为氢无序</a:t>
            </a:r>
            <a:r>
              <a:rPr lang="zh-CN" altLang="en-US" sz="2800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；</a:t>
            </a:r>
            <a:endParaRPr lang="en-US" altLang="zh-CN" sz="2800" dirty="0">
              <a:latin typeface="Times New Roman" panose="02020603050405020304" pitchFamily="18" charset="0"/>
              <a:ea typeface="思源宋体" panose="02020400000000000000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2. </a:t>
            </a:r>
            <a:r>
              <a:rPr lang="zh-CN" altLang="en-US" sz="2800" dirty="0">
                <a:latin typeface="思源宋体" panose="02020400000000000000" pitchFamily="18" charset="-122"/>
                <a:ea typeface="思源宋体" panose="02020400000000000000" pitchFamily="18" charset="-122"/>
              </a:rPr>
              <a:t>氢有序化过程中，氢键网络拓扑结构保持不变；</a:t>
            </a:r>
            <a:r>
              <a:rPr lang="zh-CN" altLang="en-US" sz="2800" dirty="0">
                <a:solidFill>
                  <a:srgbClr val="FF0000"/>
                </a:solidFill>
                <a:latin typeface="思源宋体" panose="02020400000000000000" pitchFamily="18" charset="-122"/>
                <a:ea typeface="思源宋体" panose="02020400000000000000" pitchFamily="18" charset="-122"/>
              </a:rPr>
              <a:t>存在一一对应关系（除冰</a:t>
            </a:r>
            <a:r>
              <a:rPr lang="en-US" altLang="zh-CN" sz="2800" dirty="0">
                <a:solidFill>
                  <a:srgbClr val="FF0000"/>
                </a:solidFill>
                <a:latin typeface="思源宋体" panose="02020400000000000000" pitchFamily="18" charset="-122"/>
                <a:ea typeface="思源宋体" panose="02020400000000000000" pitchFamily="18" charset="-122"/>
              </a:rPr>
              <a:t>II</a:t>
            </a:r>
            <a:r>
              <a:rPr lang="zh-CN" altLang="en-US" sz="2800" dirty="0">
                <a:solidFill>
                  <a:srgbClr val="FF0000"/>
                </a:solidFill>
                <a:latin typeface="思源宋体" panose="02020400000000000000" pitchFamily="18" charset="-122"/>
                <a:ea typeface="思源宋体" panose="02020400000000000000" pitchFamily="18" charset="-122"/>
              </a:rPr>
              <a:t>外）</a:t>
            </a:r>
            <a:r>
              <a:rPr lang="zh-CN" altLang="en-US" sz="2800" dirty="0">
                <a:latin typeface="思源宋体" panose="02020400000000000000" pitchFamily="18" charset="-122"/>
                <a:ea typeface="思源宋体" panose="02020400000000000000" pitchFamily="18" charset="-122"/>
              </a:rPr>
              <a:t>；</a:t>
            </a:r>
            <a:endParaRPr lang="en-US" altLang="zh-CN" sz="2800" dirty="0">
              <a:latin typeface="思源宋体" panose="02020400000000000000" pitchFamily="18" charset="-122"/>
              <a:ea typeface="思源宋体" panose="02020400000000000000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3. </a:t>
            </a:r>
            <a:r>
              <a:rPr lang="zh-CN" altLang="en-US" sz="2800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压缩冰 </a:t>
            </a:r>
            <a:r>
              <a:rPr lang="en-US" altLang="zh-CN" sz="2800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VII </a:t>
            </a:r>
            <a:r>
              <a:rPr lang="zh-CN" altLang="en-US" sz="2800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至冰 </a:t>
            </a:r>
            <a:r>
              <a:rPr lang="en-US" altLang="zh-CN" sz="2800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X </a:t>
            </a:r>
            <a:r>
              <a:rPr lang="zh-CN" altLang="en-US" sz="2800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时，氢键变为对称氢键。</a:t>
            </a:r>
            <a:endParaRPr lang="en-US" altLang="zh-CN" sz="2800" dirty="0">
              <a:latin typeface="Times New Roman" panose="02020603050405020304" pitchFamily="18" charset="0"/>
              <a:ea typeface="思源宋体" panose="02020400000000000000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988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57AB7-95D2-B724-62A8-A87AD4FD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EB6155-5731-8BD3-047B-EC4F49E1C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思源宋体" panose="02020400000000000000" pitchFamily="18" charset="-122"/>
                <a:ea typeface="思源宋体" panose="02020400000000000000" pitchFamily="18" charset="-122"/>
              </a:rPr>
              <a:t>2. </a:t>
            </a:r>
            <a:r>
              <a:rPr lang="zh-CN" altLang="en-US" b="1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冰 </a:t>
            </a:r>
            <a:r>
              <a:rPr lang="en-US" altLang="zh-CN" b="1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I</a:t>
            </a:r>
            <a:r>
              <a:rPr lang="en-US" altLang="zh-CN" b="1" i="1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型的无序性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A7B0F9-20F6-1503-1490-5D2D56549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079" y="1571238"/>
            <a:ext cx="5200671" cy="460096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不存在纯的立方冰</a:t>
            </a:r>
            <a:r>
              <a:rPr lang="en-US" altLang="zh-CN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-</a:t>
            </a:r>
            <a:r>
              <a:rPr lang="en-US" altLang="zh-CN" dirty="0" err="1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I</a:t>
            </a:r>
            <a:r>
              <a:rPr lang="en-US" altLang="zh-CN" baseline="-25000" dirty="0" err="1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相，总是包含六方相成分，称作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无序冰（冰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-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sd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；</a:t>
            </a:r>
            <a:endParaRPr lang="en-US" altLang="zh-CN" dirty="0">
              <a:latin typeface="Times New Roman" panose="02020603050405020304" pitchFamily="18" charset="0"/>
              <a:ea typeface="思源宋体" panose="02020400000000000000" pitchFamily="18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2.</a:t>
            </a:r>
            <a:r>
              <a:rPr lang="en-US" altLang="zh-CN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用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立方度</a:t>
            </a: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衡量立方相的含量；</a:t>
            </a:r>
            <a:endParaRPr lang="en-US" altLang="zh-CN" dirty="0">
              <a:latin typeface="Times New Roman" panose="02020603050405020304" pitchFamily="18" charset="0"/>
              <a:ea typeface="思源宋体" panose="02020400000000000000" pitchFamily="18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3. </a:t>
            </a: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已经制备出一些具有高阶对称性的冰（如右图所示）。</a:t>
            </a:r>
            <a:endParaRPr lang="zh-CN" altLang="en-US" dirty="0">
              <a:latin typeface="思源宋体 VF SemiBold" panose="02020200000000000000" pitchFamily="18" charset="-122"/>
              <a:ea typeface="思源宋体 VF SemiBold" panose="02020200000000000000" pitchFamily="18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57946FA-6D5E-8A60-8B36-6EC542277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150" y="1016198"/>
            <a:ext cx="3176249" cy="571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161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07988-9708-D3B4-3123-F83AFD0A9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9CEDA-C9D9-A2CE-E073-140F5CCE2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思源宋体" panose="02020400000000000000" pitchFamily="18" charset="-122"/>
                <a:ea typeface="思源宋体" panose="02020400000000000000" pitchFamily="18" charset="-122"/>
              </a:rPr>
              <a:t>3. </a:t>
            </a:r>
            <a:r>
              <a:rPr lang="zh-CN" altLang="en-US" b="1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掺杂导致的有序</a:t>
            </a:r>
            <a:r>
              <a:rPr lang="en-US" altLang="zh-CN" b="1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/</a:t>
            </a:r>
            <a:r>
              <a:rPr lang="zh-CN" altLang="en-US" b="1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无序化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B7F99A-8798-33FA-AB0F-CEDA92FF9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40" y="1579627"/>
            <a:ext cx="5200671" cy="460096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向水中掺杂</a:t>
            </a:r>
            <a:r>
              <a:rPr lang="en-US" altLang="zh-CN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HCl</a:t>
            </a: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，</a:t>
            </a:r>
            <a:r>
              <a:rPr lang="en-US" altLang="zh-CN" dirty="0" err="1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LiOH</a:t>
            </a: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等酸或碱可以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引导水分子重定向</a:t>
            </a: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，形成有序度更高的冰晶体；</a:t>
            </a:r>
            <a:endParaRPr lang="en-US" altLang="zh-CN" dirty="0">
              <a:latin typeface="Times New Roman" panose="02020603050405020304" pitchFamily="18" charset="0"/>
              <a:ea typeface="思源宋体" panose="02020400000000000000" pitchFamily="18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dirty="0">
              <a:latin typeface="Times New Roman" panose="02020603050405020304" pitchFamily="18" charset="0"/>
              <a:ea typeface="思源宋体" panose="02020400000000000000" pitchFamily="18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掺杂剂的影响因素？</a:t>
            </a:r>
            <a:endParaRPr lang="en-US" altLang="zh-CN" b="1" dirty="0">
              <a:latin typeface="Times New Roman" panose="02020603050405020304" pitchFamily="18" charset="0"/>
              <a:ea typeface="思源宋体" panose="02020400000000000000" pitchFamily="18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溶解度；电离能力；</a:t>
            </a:r>
            <a:r>
              <a:rPr lang="en-US" altLang="zh-CN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H</a:t>
            </a:r>
            <a:r>
              <a:rPr lang="en-US" altLang="zh-CN" baseline="-25000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O</a:t>
            </a:r>
            <a:r>
              <a:rPr lang="en-US" altLang="zh-CN" baseline="30000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/OH</a:t>
            </a:r>
            <a:r>
              <a:rPr lang="en-US" altLang="zh-CN" baseline="30000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–</a:t>
            </a: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的迁移机制；</a:t>
            </a:r>
            <a:r>
              <a:rPr lang="en-US" altLang="zh-CN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……</a:t>
            </a:r>
            <a:endParaRPr lang="zh-CN" altLang="en-US" dirty="0">
              <a:latin typeface="思源宋体 VF SemiBold" panose="02020200000000000000" pitchFamily="18" charset="-122"/>
              <a:ea typeface="思源宋体 VF SemiBold" panose="02020200000000000000" pitchFamily="18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37C850-1ED7-4003-E878-58E1D8801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32834"/>
            <a:ext cx="5659491" cy="400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91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F3223-C694-D8F8-2569-2383C42D2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62BB26-F129-7560-8DE9-62655C6FE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思源宋体" panose="02020400000000000000" pitchFamily="18" charset="-122"/>
                <a:ea typeface="思源宋体" panose="02020400000000000000" pitchFamily="18" charset="-122"/>
              </a:rPr>
              <a:t>3. </a:t>
            </a:r>
            <a:r>
              <a:rPr lang="zh-CN" altLang="en-US" b="1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掺杂导致的有序</a:t>
            </a:r>
            <a:r>
              <a:rPr lang="en-US" altLang="zh-CN" b="1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/</a:t>
            </a:r>
            <a:r>
              <a:rPr lang="zh-CN" altLang="en-US" b="1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无序化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8E998E-27C8-076A-DD65-8F96C3067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1140" y="1690688"/>
            <a:ext cx="5200671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向水中掺杂</a:t>
            </a:r>
            <a:r>
              <a:rPr lang="en-US" altLang="zh-CN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NH</a:t>
            </a:r>
            <a:r>
              <a:rPr lang="en-US" altLang="zh-CN" baseline="-25000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会使有序的冰</a:t>
            </a:r>
            <a:r>
              <a:rPr lang="en-US" altLang="zh-CN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II</a:t>
            </a: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相消失，转化为冰</a:t>
            </a:r>
            <a:r>
              <a:rPr lang="en-US" altLang="zh-CN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III</a:t>
            </a: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或冰</a:t>
            </a:r>
            <a:r>
              <a:rPr lang="en-US" altLang="zh-CN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思源宋体" panose="02020400000000000000" pitchFamily="18" charset="-122"/>
                <a:cs typeface="Times New Roman" panose="02020603050405020304" pitchFamily="18" charset="0"/>
              </a:rPr>
              <a:t>相。</a:t>
            </a:r>
            <a:endParaRPr lang="zh-CN" altLang="en-US" dirty="0">
              <a:latin typeface="思源宋体 VF SemiBold" panose="02020200000000000000" pitchFamily="18" charset="-122"/>
              <a:ea typeface="思源宋体 VF SemiBold" panose="02020200000000000000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22CA3A-FDBC-75E2-2389-49C8629E6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60" y="3134603"/>
            <a:ext cx="6309833" cy="335827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D88E36-B735-E4A9-6D97-DB5A9C0B0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524" y="0"/>
            <a:ext cx="41814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03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237</Words>
  <Application>Microsoft Office PowerPoint</Application>
  <PresentationFormat>宽屏</PresentationFormat>
  <Paragraphs>21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思源宋体</vt:lpstr>
      <vt:lpstr>思源宋体 VF SemiBold</vt:lpstr>
      <vt:lpstr>Arial</vt:lpstr>
      <vt:lpstr>Times New Roman</vt:lpstr>
      <vt:lpstr>Office 主题​​</vt:lpstr>
      <vt:lpstr>冰的无序结构</vt:lpstr>
      <vt:lpstr>1.氢原子的无序性</vt:lpstr>
      <vt:lpstr>1.氢原子的无序性</vt:lpstr>
      <vt:lpstr>2. 冰 I 型的无序性</vt:lpstr>
      <vt:lpstr>3. 掺杂导致的有序/无序化</vt:lpstr>
      <vt:lpstr>3. 掺杂导致的有序/无序化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锦豪 蒋</dc:creator>
  <cp:lastModifiedBy>锦豪 蒋</cp:lastModifiedBy>
  <cp:revision>2</cp:revision>
  <dcterms:created xsi:type="dcterms:W3CDTF">2026-05-16T14:15:21Z</dcterms:created>
  <dcterms:modified xsi:type="dcterms:W3CDTF">2026-05-16T16:01:20Z</dcterms:modified>
</cp:coreProperties>
</file>